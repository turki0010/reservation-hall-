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wide"/>
  <p:notesSz cx="6858000" cy="9144000"/>
  <p:defaultTextStyle>
    <a:defPPr>
      <a:defRPr lang="ar-SA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B55"/>
          </a:solidFill>
          <a:ln w="9525">
            <a:solidFill>
              <a:srgbClr val="176B55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2011680" cy="82296"/>
          </a:xfrm>
          <a:prstGeom prst="rect">
            <a:avLst/>
          </a:prstGeom>
          <a:solidFill>
            <a:srgbClr val="E8B34E"/>
          </a:solidFill>
          <a:ln w="9525">
            <a:solidFill>
              <a:srgbClr val="E8B34E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200" b="1" dirty="0">
                <a:solidFill>
                  <a:srgbClr val="176B55"/>
                </a:solidFill>
                <a:latin typeface="Tahoma"/>
                <a:ea typeface="Tahoma"/>
                <a:cs typeface="Tahoma"/>
              </a:rPr>
              <a:t xml:space="preserve">المشروع الختامي · أداة داخلية مقترحة</a:t>
            </a:r>
            <a:endParaRPr lang="ar-SA" sz="1200"/>
          </a:p>
        </p:txBody>
      </p:sp>
      <p:sp>
        <p:nvSpPr>
          <p:cNvPr id="5" name="Text 5"/>
          <p:cNvSpPr txBox="1"/>
          <p:nvPr/>
        </p:nvSpPr>
        <p:spPr>
          <a:xfrm>
            <a:off x="685800" y="713232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2700" b="1" dirty="0">
                <a:solidFill>
                  <a:srgbClr val="143A34"/>
                </a:solidFill>
                <a:latin typeface="Tahoma"/>
                <a:ea typeface="Tahoma"/>
                <a:cs typeface="Tahoma"/>
              </a:rPr>
              <a:t xml:space="preserve">Reservation Hall | حجز قاعات التدريب</a:t>
            </a:r>
            <a:endParaRPr lang="ar-SA" sz="2700"/>
          </a:p>
        </p:txBody>
      </p:sp>
      <p:sp>
        <p:nvSpPr>
          <p:cNvPr id="6" name="Shape 6"/>
          <p:cNvSpPr/>
          <p:nvPr/>
        </p:nvSpPr>
        <p:spPr>
          <a:xfrm>
            <a:off x="685800" y="6336792"/>
            <a:ext cx="10789920" cy="13716"/>
          </a:xfrm>
          <a:prstGeom prst="rect">
            <a:avLst/>
          </a:prstGeom>
          <a:solidFill>
            <a:srgbClr val="D8E3DC"/>
          </a:solidFill>
          <a:ln w="9525">
            <a:solidFill>
              <a:srgbClr val="D8E3DC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685800" y="638251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9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نموذج توضيحي ببيانات وهمية — غير متصل بنظام الجامعة</a:t>
            </a:r>
            <a:endParaRPr lang="ar-SA" sz="900"/>
          </a:p>
        </p:txBody>
      </p:sp>
      <p:sp>
        <p:nvSpPr>
          <p:cNvPr id="8" name="Text 8"/>
          <p:cNvSpPr txBox="1"/>
          <p:nvPr/>
        </p:nvSpPr>
        <p:spPr>
          <a:xfrm>
            <a:off x="10287000" y="638251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rtl="1"/>
            <a:r>
              <a:rPr lang="ar-SA" sz="9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1 / 5</a:t>
            </a:r>
            <a:endParaRPr lang="ar-SA" sz="900"/>
          </a:p>
        </p:txBody>
      </p:sp>
      <p:sp>
        <p:nvSpPr>
          <p:cNvPr id="9" name="Text 9"/>
          <p:cNvSpPr txBox="1"/>
          <p:nvPr/>
        </p:nvSpPr>
        <p:spPr>
          <a:xfrm>
            <a:off x="1005840" y="1508760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9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تقويم يوضح حالة القاعات، وطلب منظم، ومسار واضح للاعتماد والتعديل.</a:t>
            </a:r>
            <a:endParaRPr lang="ar-SA" sz="1900"/>
          </a:p>
        </p:txBody>
      </p:sp>
      <p:sp>
        <p:nvSpPr>
          <p:cNvPr id="10" name="Shape 10"/>
          <p:cNvSpPr/>
          <p:nvPr/>
        </p:nvSpPr>
        <p:spPr>
          <a:xfrm>
            <a:off x="8275320" y="2971800"/>
            <a:ext cx="2377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3DC"/>
            </a:solidFill>
          </a:ln>
        </p:spPr>
      </p:sp>
      <p:sp>
        <p:nvSpPr>
          <p:cNvPr id="11" name="Shape 11"/>
          <p:cNvSpPr/>
          <p:nvPr/>
        </p:nvSpPr>
        <p:spPr>
          <a:xfrm>
            <a:off x="8275320" y="2971800"/>
            <a:ext cx="2377440" cy="64008"/>
          </a:xfrm>
          <a:prstGeom prst="rect">
            <a:avLst/>
          </a:prstGeom>
          <a:solidFill>
            <a:srgbClr val="176B55"/>
          </a:solidFill>
          <a:ln w="9525">
            <a:solidFill>
              <a:srgbClr val="176B55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8421624" y="3310128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rtl="1"/>
            <a:r>
              <a:rPr lang="ar-SA" sz="2800" b="1" dirty="0">
                <a:solidFill>
                  <a:srgbClr val="176B55"/>
                </a:solidFill>
                <a:latin typeface="Tahoma"/>
                <a:ea typeface="Tahoma"/>
                <a:cs typeface="Tahoma"/>
              </a:rPr>
              <a:t xml:space="preserve">ساعتان</a:t>
            </a:r>
            <a:endParaRPr lang="ar-SA" sz="2800"/>
          </a:p>
        </p:txBody>
      </p:sp>
      <p:sp>
        <p:nvSpPr>
          <p:cNvPr id="13" name="Text 13"/>
          <p:cNvSpPr txBox="1"/>
          <p:nvPr/>
        </p:nvSpPr>
        <p:spPr>
          <a:xfrm>
            <a:off x="8421624" y="3904488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rtl="1"/>
            <a:r>
              <a:rPr lang="ar-SA" sz="115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عمل فعلي لكل طلب</a:t>
            </a:r>
            <a:endParaRPr lang="ar-SA" sz="1150"/>
          </a:p>
        </p:txBody>
      </p:sp>
      <p:sp>
        <p:nvSpPr>
          <p:cNvPr id="14" name="Shape 14"/>
          <p:cNvSpPr/>
          <p:nvPr/>
        </p:nvSpPr>
        <p:spPr>
          <a:xfrm>
            <a:off x="5577840" y="2971800"/>
            <a:ext cx="2377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3DC"/>
            </a:solidFill>
          </a:ln>
        </p:spPr>
      </p:sp>
      <p:sp>
        <p:nvSpPr>
          <p:cNvPr id="15" name="Shape 15"/>
          <p:cNvSpPr/>
          <p:nvPr/>
        </p:nvSpPr>
        <p:spPr>
          <a:xfrm>
            <a:off x="5577840" y="2971800"/>
            <a:ext cx="2377440" cy="64008"/>
          </a:xfrm>
          <a:prstGeom prst="rect">
            <a:avLst/>
          </a:prstGeom>
          <a:solidFill>
            <a:srgbClr val="E8B34E"/>
          </a:solidFill>
          <a:ln w="9525">
            <a:solidFill>
              <a:srgbClr val="E8B34E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5724144" y="3310128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rtl="1"/>
            <a:r>
              <a:rPr lang="ar-SA" sz="2800" b="1" dirty="0">
                <a:solidFill>
                  <a:srgbClr val="176B55"/>
                </a:solidFill>
                <a:latin typeface="Tahoma"/>
                <a:ea typeface="Tahoma"/>
                <a:cs typeface="Tahoma"/>
              </a:rPr>
              <a:t xml:space="preserve">يوم عمل</a:t>
            </a:r>
            <a:endParaRPr lang="ar-SA" sz="2800"/>
          </a:p>
        </p:txBody>
      </p:sp>
      <p:sp>
        <p:nvSpPr>
          <p:cNvPr id="17" name="Text 17"/>
          <p:cNvSpPr txBox="1"/>
          <p:nvPr/>
        </p:nvSpPr>
        <p:spPr>
          <a:xfrm>
            <a:off x="5724144" y="3904488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rtl="1"/>
            <a:r>
              <a:rPr lang="ar-SA" sz="115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حتى معرفة النتيجة</a:t>
            </a:r>
            <a:endParaRPr lang="ar-SA" sz="1150"/>
          </a:p>
        </p:txBody>
      </p:sp>
      <p:sp>
        <p:nvSpPr>
          <p:cNvPr id="18" name="Shape 18"/>
          <p:cNvSpPr/>
          <p:nvPr/>
        </p:nvSpPr>
        <p:spPr>
          <a:xfrm>
            <a:off x="2880360" y="2971800"/>
            <a:ext cx="2377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3DC"/>
            </a:solidFill>
          </a:ln>
        </p:spPr>
      </p:sp>
      <p:sp>
        <p:nvSpPr>
          <p:cNvPr id="19" name="Shape 19"/>
          <p:cNvSpPr/>
          <p:nvPr/>
        </p:nvSpPr>
        <p:spPr>
          <a:xfrm>
            <a:off x="2880360" y="2971800"/>
            <a:ext cx="2377440" cy="64008"/>
          </a:xfrm>
          <a:prstGeom prst="rect">
            <a:avLst/>
          </a:prstGeom>
          <a:solidFill>
            <a:srgbClr val="176B55"/>
          </a:solidFill>
          <a:ln w="9525">
            <a:solidFill>
              <a:srgbClr val="176B55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3026664" y="3310128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rtl="1"/>
            <a:r>
              <a:rPr lang="ar-SA" sz="2800" b="1" dirty="0">
                <a:solidFill>
                  <a:srgbClr val="176B55"/>
                </a:solidFill>
                <a:latin typeface="Tahoma"/>
                <a:ea typeface="Tahoma"/>
                <a:cs typeface="Tahoma"/>
              </a:rPr>
              <a:t xml:space="preserve">46 ساعة</a:t>
            </a:r>
            <a:endParaRPr lang="ar-SA" sz="2800"/>
          </a:p>
        </p:txBody>
      </p:sp>
      <p:sp>
        <p:nvSpPr>
          <p:cNvPr id="21" name="Text 21"/>
          <p:cNvSpPr txBox="1"/>
          <p:nvPr/>
        </p:nvSpPr>
        <p:spPr>
          <a:xfrm>
            <a:off x="3026664" y="3904488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rtl="1"/>
            <a:r>
              <a:rPr lang="ar-SA" sz="115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شهريًا حسابيًا · 23 طلبًا</a:t>
            </a:r>
            <a:endParaRPr lang="ar-SA" sz="1150"/>
          </a:p>
        </p:txBody>
      </p:sp>
      <p:sp>
        <p:nvSpPr>
          <p:cNvPr id="22" name="Text 22"/>
          <p:cNvSpPr txBox="1"/>
          <p:nvPr/>
        </p:nvSpPr>
        <p:spPr>
          <a:xfrm>
            <a:off x="914400" y="49834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rtl="1"/>
            <a:r>
              <a:rPr lang="ar-SA" sz="12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الخط الأساس بحسب وصف صاحب المشروع؛ يلزم التحقق من سجلات فعلية.</a:t>
            </a:r>
            <a:endParaRPr lang="ar-SA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B55"/>
          </a:solidFill>
          <a:ln w="9525">
            <a:solidFill>
              <a:srgbClr val="176B55"/>
            </a:solidFill>
          </a:ln>
        </p:spPr>
      </p:sp>
      <p:sp>
        <p:nvSpPr>
          <p:cNvPr id="24" name="Shape 24"/>
          <p:cNvSpPr/>
          <p:nvPr/>
        </p:nvSpPr>
        <p:spPr>
          <a:xfrm>
            <a:off x="0" y="0"/>
            <a:ext cx="2011680" cy="82296"/>
          </a:xfrm>
          <a:prstGeom prst="rect">
            <a:avLst/>
          </a:prstGeom>
          <a:solidFill>
            <a:srgbClr val="E8B34E"/>
          </a:solidFill>
          <a:ln w="9525">
            <a:solidFill>
              <a:srgbClr val="E8B34E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200" b="1" dirty="0">
                <a:solidFill>
                  <a:srgbClr val="176B55"/>
                </a:solidFill>
                <a:latin typeface="Tahoma"/>
                <a:ea typeface="Tahoma"/>
                <a:cs typeface="Tahoma"/>
              </a:rPr>
              <a:t xml:space="preserve">01 · المشكلة وخط الأساس</a:t>
            </a:r>
            <a:endParaRPr lang="ar-SA" sz="1200"/>
          </a:p>
        </p:txBody>
      </p:sp>
      <p:sp>
        <p:nvSpPr>
          <p:cNvPr id="26" name="Text 26"/>
          <p:cNvSpPr txBox="1"/>
          <p:nvPr/>
        </p:nvSpPr>
        <p:spPr>
          <a:xfrm>
            <a:off x="685800" y="713232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2700" b="1" dirty="0">
                <a:solidFill>
                  <a:srgbClr val="143A34"/>
                </a:solidFill>
                <a:latin typeface="Tahoma"/>
                <a:ea typeface="Tahoma"/>
                <a:cs typeface="Tahoma"/>
              </a:rPr>
              <a:t xml:space="preserve">الجهد النشط وزمن الانتظار</a:t>
            </a:r>
            <a:endParaRPr lang="ar-SA" sz="2700"/>
          </a:p>
        </p:txBody>
      </p:sp>
      <p:sp>
        <p:nvSpPr>
          <p:cNvPr id="27" name="Shape 27"/>
          <p:cNvSpPr/>
          <p:nvPr/>
        </p:nvSpPr>
        <p:spPr>
          <a:xfrm>
            <a:off x="685800" y="6336792"/>
            <a:ext cx="10789920" cy="13716"/>
          </a:xfrm>
          <a:prstGeom prst="rect">
            <a:avLst/>
          </a:prstGeom>
          <a:solidFill>
            <a:srgbClr val="D8E3DC"/>
          </a:solidFill>
          <a:ln w="9525">
            <a:solidFill>
              <a:srgbClr val="D8E3DC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685800" y="638251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9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نموذج توضيحي ببيانات وهمية — غير متصل بنظام الجامعة</a:t>
            </a:r>
            <a:endParaRPr lang="ar-SA" sz="900"/>
          </a:p>
        </p:txBody>
      </p:sp>
      <p:sp>
        <p:nvSpPr>
          <p:cNvPr id="29" name="Text 29"/>
          <p:cNvSpPr txBox="1"/>
          <p:nvPr/>
        </p:nvSpPr>
        <p:spPr>
          <a:xfrm>
            <a:off x="10287000" y="638251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rtl="1"/>
            <a:r>
              <a:rPr lang="ar-SA" sz="9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2 / 5</a:t>
            </a:r>
            <a:endParaRPr lang="ar-SA" sz="900"/>
          </a:p>
        </p:txBody>
      </p:sp>
      <p:sp>
        <p:nvSpPr>
          <p:cNvPr id="30" name="Shape 30"/>
          <p:cNvSpPr/>
          <p:nvPr/>
        </p:nvSpPr>
        <p:spPr>
          <a:xfrm>
            <a:off x="7680960" y="1645920"/>
            <a:ext cx="356616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3DC"/>
            </a:solidFill>
          </a:ln>
        </p:spPr>
      </p:sp>
      <p:sp>
        <p:nvSpPr>
          <p:cNvPr id="31" name="Shape 31"/>
          <p:cNvSpPr/>
          <p:nvPr/>
        </p:nvSpPr>
        <p:spPr>
          <a:xfrm>
            <a:off x="11173968" y="1755648"/>
            <a:ext cx="41148" cy="1106424"/>
          </a:xfrm>
          <a:prstGeom prst="rect">
            <a:avLst/>
          </a:prstGeom>
          <a:solidFill>
            <a:srgbClr val="176B55"/>
          </a:solidFill>
          <a:ln w="9525">
            <a:solidFill>
              <a:srgbClr val="176B55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7882128" y="1810512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700" b="1" dirty="0">
                <a:solidFill>
                  <a:srgbClr val="143A34"/>
                </a:solidFill>
                <a:latin typeface="Tahoma"/>
                <a:ea typeface="Tahoma"/>
                <a:cs typeface="Tahoma"/>
              </a:rPr>
              <a:t xml:space="preserve">الجهد الفعلي</a:t>
            </a:r>
            <a:endParaRPr lang="ar-SA" sz="1700"/>
          </a:p>
        </p:txBody>
      </p:sp>
      <p:sp>
        <p:nvSpPr>
          <p:cNvPr id="33" name="Text 33"/>
          <p:cNvSpPr txBox="1"/>
          <p:nvPr/>
        </p:nvSpPr>
        <p:spPr>
          <a:xfrm>
            <a:off x="7882128" y="2258568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6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ساعتان عمل لكل طلب.</a:t>
            </a:r>
            <a:endParaRPr lang="ar-SA" sz="1600"/>
          </a:p>
        </p:txBody>
      </p:sp>
      <p:sp>
        <p:nvSpPr>
          <p:cNvPr id="34" name="Shape 34"/>
          <p:cNvSpPr/>
          <p:nvPr/>
        </p:nvSpPr>
        <p:spPr>
          <a:xfrm>
            <a:off x="4315968" y="1645920"/>
            <a:ext cx="306324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3DC"/>
            </a:solidFill>
          </a:ln>
        </p:spPr>
      </p:sp>
      <p:sp>
        <p:nvSpPr>
          <p:cNvPr id="35" name="Shape 35"/>
          <p:cNvSpPr/>
          <p:nvPr/>
        </p:nvSpPr>
        <p:spPr>
          <a:xfrm>
            <a:off x="7306056" y="1755648"/>
            <a:ext cx="41148" cy="1106424"/>
          </a:xfrm>
          <a:prstGeom prst="rect">
            <a:avLst/>
          </a:prstGeom>
          <a:solidFill>
            <a:srgbClr val="E8B34E"/>
          </a:solidFill>
          <a:ln w="9525">
            <a:solidFill>
              <a:srgbClr val="E8B34E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4517136" y="181051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700" b="1" dirty="0">
                <a:solidFill>
                  <a:srgbClr val="143A34"/>
                </a:solidFill>
                <a:latin typeface="Tahoma"/>
                <a:ea typeface="Tahoma"/>
                <a:cs typeface="Tahoma"/>
              </a:rPr>
              <a:t xml:space="preserve">زمن دورة الطلب</a:t>
            </a:r>
            <a:endParaRPr lang="ar-SA" sz="1700"/>
          </a:p>
        </p:txBody>
      </p:sp>
      <p:sp>
        <p:nvSpPr>
          <p:cNvPr id="37" name="Text 37"/>
          <p:cNvSpPr txBox="1"/>
          <p:nvPr/>
        </p:nvSpPr>
        <p:spPr>
          <a:xfrm>
            <a:off x="4517136" y="2258568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5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يوم عمل كامل حتى معرفة النتيجة.</a:t>
            </a:r>
            <a:endParaRPr lang="ar-SA" sz="1500"/>
          </a:p>
        </p:txBody>
      </p:sp>
      <p:sp>
        <p:nvSpPr>
          <p:cNvPr id="38" name="Shape 38"/>
          <p:cNvSpPr/>
          <p:nvPr/>
        </p:nvSpPr>
        <p:spPr>
          <a:xfrm>
            <a:off x="914400" y="1645920"/>
            <a:ext cx="306324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3DC"/>
            </a:solidFill>
          </a:ln>
        </p:spPr>
      </p:sp>
      <p:sp>
        <p:nvSpPr>
          <p:cNvPr id="39" name="Shape 39"/>
          <p:cNvSpPr/>
          <p:nvPr/>
        </p:nvSpPr>
        <p:spPr>
          <a:xfrm>
            <a:off x="3904488" y="1755648"/>
            <a:ext cx="41148" cy="1106424"/>
          </a:xfrm>
          <a:prstGeom prst="rect">
            <a:avLst/>
          </a:prstGeom>
          <a:solidFill>
            <a:srgbClr val="456B96"/>
          </a:solidFill>
          <a:ln w="9525">
            <a:solidFill>
              <a:srgbClr val="456B96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1115568" y="181051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700" b="1" dirty="0">
                <a:solidFill>
                  <a:srgbClr val="143A34"/>
                </a:solidFill>
                <a:latin typeface="Tahoma"/>
                <a:ea typeface="Tahoma"/>
                <a:cs typeface="Tahoma"/>
              </a:rPr>
              <a:t xml:space="preserve">حجم الطلبات</a:t>
            </a:r>
            <a:endParaRPr lang="ar-SA" sz="1700"/>
          </a:p>
        </p:txBody>
      </p:sp>
      <p:sp>
        <p:nvSpPr>
          <p:cNvPr id="41" name="Text 41"/>
          <p:cNvSpPr txBox="1"/>
          <p:nvPr/>
        </p:nvSpPr>
        <p:spPr>
          <a:xfrm>
            <a:off x="1115568" y="2258568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5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نحو 23 طلبًا شهريًا.</a:t>
            </a:r>
            <a:endParaRPr lang="ar-SA" sz="1500"/>
          </a:p>
        </p:txBody>
      </p:sp>
      <p:sp>
        <p:nvSpPr>
          <p:cNvPr id="42" name="Shape 42"/>
          <p:cNvSpPr/>
          <p:nvPr/>
        </p:nvSpPr>
        <p:spPr>
          <a:xfrm>
            <a:off x="914400" y="3749040"/>
            <a:ext cx="10332720" cy="1417320"/>
          </a:xfrm>
          <a:prstGeom prst="roundRect">
            <a:avLst/>
          </a:prstGeom>
          <a:solidFill>
            <a:srgbClr val="E7F3EB"/>
          </a:solidFill>
          <a:ln w="9525">
            <a:solidFill>
              <a:srgbClr val="E7F3EB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1920240" y="397764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rtl="1"/>
            <a:r>
              <a:rPr lang="ar-SA" sz="1700" b="1" dirty="0">
                <a:solidFill>
                  <a:srgbClr val="176B55"/>
                </a:solidFill>
                <a:latin typeface="Tahoma"/>
                <a:ea typeface="Tahoma"/>
                <a:cs typeface="Tahoma"/>
              </a:rPr>
              <a:t xml:space="preserve">خط الأساس الشهري</a:t>
            </a:r>
            <a:endParaRPr lang="ar-SA" sz="1700"/>
          </a:p>
        </p:txBody>
      </p:sp>
      <p:sp>
        <p:nvSpPr>
          <p:cNvPr id="44" name="Text 44"/>
          <p:cNvSpPr txBox="1"/>
          <p:nvPr/>
        </p:nvSpPr>
        <p:spPr>
          <a:xfrm>
            <a:off x="1828800" y="4443984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rtl="1"/>
            <a:r>
              <a:rPr lang="ar-SA" sz="2100" b="1" dirty="0">
                <a:solidFill>
                  <a:srgbClr val="143A34"/>
                </a:solidFill>
                <a:latin typeface="Tahoma"/>
                <a:ea typeface="Tahoma"/>
                <a:cs typeface="Tahoma"/>
              </a:rPr>
              <a:t xml:space="preserve">ساعتان × 23 طلبًا = 46 ساعة عمل شهريًا (حسابيًا)</a:t>
            </a:r>
            <a:endParaRPr lang="ar-SA" sz="2100"/>
          </a:p>
        </p:txBody>
      </p:sp>
      <p:sp>
        <p:nvSpPr>
          <p:cNvPr id="45" name="Text 45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rtl="1"/>
            <a:r>
              <a:rPr lang="ar-SA" sz="13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ساعتان تمثلان وقت العمل الفعلي؛ يوم العمل يمثل زمن وصول النتيجة.</a:t>
            </a:r>
            <a:endParaRPr lang="ar-SA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B55"/>
          </a:solidFill>
          <a:ln w="9525">
            <a:solidFill>
              <a:srgbClr val="176B55"/>
            </a:solidFill>
          </a:ln>
        </p:spPr>
      </p:sp>
      <p:sp>
        <p:nvSpPr>
          <p:cNvPr id="47" name="Shape 47"/>
          <p:cNvSpPr/>
          <p:nvPr/>
        </p:nvSpPr>
        <p:spPr>
          <a:xfrm>
            <a:off x="0" y="0"/>
            <a:ext cx="2011680" cy="82296"/>
          </a:xfrm>
          <a:prstGeom prst="rect">
            <a:avLst/>
          </a:prstGeom>
          <a:solidFill>
            <a:srgbClr val="E8B34E"/>
          </a:solidFill>
          <a:ln w="9525">
            <a:solidFill>
              <a:srgbClr val="E8B34E"/>
            </a:solidFill>
          </a:ln>
        </p:spPr>
      </p:sp>
      <p:sp>
        <p:nvSpPr>
          <p:cNvPr id="48" name="Text 48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200" b="1" dirty="0">
                <a:solidFill>
                  <a:srgbClr val="176B55"/>
                </a:solidFill>
                <a:latin typeface="Tahoma"/>
                <a:ea typeface="Tahoma"/>
                <a:cs typeface="Tahoma"/>
              </a:rPr>
              <a:t xml:space="preserve">02 · تصميم الحل</a:t>
            </a:r>
            <a:endParaRPr lang="ar-SA" sz="1200"/>
          </a:p>
        </p:txBody>
      </p:sp>
      <p:sp>
        <p:nvSpPr>
          <p:cNvPr id="49" name="Text 49"/>
          <p:cNvSpPr txBox="1"/>
          <p:nvPr/>
        </p:nvSpPr>
        <p:spPr>
          <a:xfrm>
            <a:off x="685800" y="713232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2700" b="1" dirty="0">
                <a:solidFill>
                  <a:srgbClr val="143A34"/>
                </a:solidFill>
                <a:latin typeface="Tahoma"/>
                <a:ea typeface="Tahoma"/>
                <a:cs typeface="Tahoma"/>
              </a:rPr>
              <a:t xml:space="preserve">التوفر أولًا، ثم الطلب والاعتماد</a:t>
            </a:r>
            <a:endParaRPr lang="ar-SA" sz="2700"/>
          </a:p>
        </p:txBody>
      </p:sp>
      <p:sp>
        <p:nvSpPr>
          <p:cNvPr id="50" name="Shape 50"/>
          <p:cNvSpPr/>
          <p:nvPr/>
        </p:nvSpPr>
        <p:spPr>
          <a:xfrm>
            <a:off x="685800" y="6336792"/>
            <a:ext cx="10789920" cy="13716"/>
          </a:xfrm>
          <a:prstGeom prst="rect">
            <a:avLst/>
          </a:prstGeom>
          <a:solidFill>
            <a:srgbClr val="D8E3DC"/>
          </a:solidFill>
          <a:ln w="9525">
            <a:solidFill>
              <a:srgbClr val="D8E3DC"/>
            </a:solidFill>
          </a:ln>
        </p:spPr>
      </p:sp>
      <p:sp>
        <p:nvSpPr>
          <p:cNvPr id="51" name="Text 51"/>
          <p:cNvSpPr txBox="1"/>
          <p:nvPr/>
        </p:nvSpPr>
        <p:spPr>
          <a:xfrm>
            <a:off x="685800" y="638251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9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نموذج توضيحي ببيانات وهمية — غير متصل بنظام الجامعة</a:t>
            </a:r>
            <a:endParaRPr lang="ar-SA" sz="900"/>
          </a:p>
        </p:txBody>
      </p:sp>
      <p:sp>
        <p:nvSpPr>
          <p:cNvPr id="52" name="Text 52"/>
          <p:cNvSpPr txBox="1"/>
          <p:nvPr/>
        </p:nvSpPr>
        <p:spPr>
          <a:xfrm>
            <a:off x="10287000" y="638251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rtl="1"/>
            <a:r>
              <a:rPr lang="ar-SA" sz="9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3 / 5</a:t>
            </a:r>
            <a:endParaRPr lang="ar-SA" sz="900"/>
          </a:p>
        </p:txBody>
      </p:sp>
      <p:sp>
        <p:nvSpPr>
          <p:cNvPr id="53" name="Shape 53"/>
          <p:cNvSpPr/>
          <p:nvPr/>
        </p:nvSpPr>
        <p:spPr>
          <a:xfrm>
            <a:off x="7726680" y="1417320"/>
            <a:ext cx="35204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3DC"/>
            </a:solidFill>
          </a:ln>
        </p:spPr>
      </p:sp>
      <p:sp>
        <p:nvSpPr>
          <p:cNvPr id="54" name="Shape 54"/>
          <p:cNvSpPr/>
          <p:nvPr/>
        </p:nvSpPr>
        <p:spPr>
          <a:xfrm>
            <a:off x="11173968" y="1527048"/>
            <a:ext cx="41148" cy="1014984"/>
          </a:xfrm>
          <a:prstGeom prst="rect">
            <a:avLst/>
          </a:prstGeom>
          <a:solidFill>
            <a:srgbClr val="176B55"/>
          </a:solidFill>
          <a:ln w="9525">
            <a:solidFill>
              <a:srgbClr val="176B55"/>
            </a:solidFill>
          </a:ln>
        </p:spPr>
      </p:sp>
      <p:sp>
        <p:nvSpPr>
          <p:cNvPr id="55" name="Text 55"/>
          <p:cNvSpPr txBox="1"/>
          <p:nvPr/>
        </p:nvSpPr>
        <p:spPr>
          <a:xfrm>
            <a:off x="7927848" y="1581912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700" b="1" dirty="0">
                <a:solidFill>
                  <a:srgbClr val="143A34"/>
                </a:solidFill>
                <a:latin typeface="Tahoma"/>
                <a:ea typeface="Tahoma"/>
                <a:cs typeface="Tahoma"/>
              </a:rPr>
              <a:t xml:space="preserve">1 · استعراض التوفر</a:t>
            </a:r>
            <a:endParaRPr lang="ar-SA" sz="1700"/>
          </a:p>
        </p:txBody>
      </p:sp>
      <p:sp>
        <p:nvSpPr>
          <p:cNvPr id="56" name="Text 56"/>
          <p:cNvSpPr txBox="1"/>
          <p:nvPr/>
        </p:nvSpPr>
        <p:spPr>
          <a:xfrm>
            <a:off x="7927848" y="202996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3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تقويم لشهرين: متاحة، محجوزة، صيانة. الاختيار للأيام المتاحة فقط.</a:t>
            </a:r>
            <a:endParaRPr lang="ar-SA" sz="1300"/>
          </a:p>
        </p:txBody>
      </p:sp>
      <p:sp>
        <p:nvSpPr>
          <p:cNvPr id="57" name="Shape 57"/>
          <p:cNvSpPr/>
          <p:nvPr/>
        </p:nvSpPr>
        <p:spPr>
          <a:xfrm>
            <a:off x="4325112" y="1417320"/>
            <a:ext cx="30632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3DC"/>
            </a:solidFill>
          </a:ln>
        </p:spPr>
      </p:sp>
      <p:sp>
        <p:nvSpPr>
          <p:cNvPr id="58" name="Shape 58"/>
          <p:cNvSpPr/>
          <p:nvPr/>
        </p:nvSpPr>
        <p:spPr>
          <a:xfrm>
            <a:off x="7315200" y="1527048"/>
            <a:ext cx="41148" cy="1014984"/>
          </a:xfrm>
          <a:prstGeom prst="rect">
            <a:avLst/>
          </a:prstGeom>
          <a:solidFill>
            <a:srgbClr val="E8B34E"/>
          </a:solidFill>
          <a:ln w="9525">
            <a:solidFill>
              <a:srgbClr val="E8B34E"/>
            </a:solidFill>
          </a:ln>
        </p:spPr>
      </p:sp>
      <p:sp>
        <p:nvSpPr>
          <p:cNvPr id="59" name="Text 59"/>
          <p:cNvSpPr txBox="1"/>
          <p:nvPr/>
        </p:nvSpPr>
        <p:spPr>
          <a:xfrm>
            <a:off x="4526280" y="158191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700" b="1" dirty="0">
                <a:solidFill>
                  <a:srgbClr val="143A34"/>
                </a:solidFill>
                <a:latin typeface="Tahoma"/>
                <a:ea typeface="Tahoma"/>
                <a:cs typeface="Tahoma"/>
              </a:rPr>
              <a:t xml:space="preserve">2 · تقديم الطلب</a:t>
            </a:r>
            <a:endParaRPr lang="ar-SA" sz="1700"/>
          </a:p>
        </p:txBody>
      </p:sp>
      <p:sp>
        <p:nvSpPr>
          <p:cNvPr id="60" name="Text 60"/>
          <p:cNvSpPr txBox="1"/>
          <p:nvPr/>
        </p:nvSpPr>
        <p:spPr>
          <a:xfrm>
            <a:off x="4526280" y="202996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3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التاريخ والوقت والعدد والغرض. موافقة مطلوبة لقاعة المجلس.</a:t>
            </a:r>
            <a:endParaRPr lang="ar-SA" sz="1300"/>
          </a:p>
        </p:txBody>
      </p:sp>
      <p:sp>
        <p:nvSpPr>
          <p:cNvPr id="61" name="Shape 61"/>
          <p:cNvSpPr/>
          <p:nvPr/>
        </p:nvSpPr>
        <p:spPr>
          <a:xfrm>
            <a:off x="914400" y="1417320"/>
            <a:ext cx="30632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3DC"/>
            </a:solidFill>
          </a:ln>
        </p:spPr>
      </p:sp>
      <p:sp>
        <p:nvSpPr>
          <p:cNvPr id="62" name="Shape 62"/>
          <p:cNvSpPr/>
          <p:nvPr/>
        </p:nvSpPr>
        <p:spPr>
          <a:xfrm>
            <a:off x="3904488" y="1527048"/>
            <a:ext cx="41148" cy="1014984"/>
          </a:xfrm>
          <a:prstGeom prst="rect">
            <a:avLst/>
          </a:prstGeom>
          <a:solidFill>
            <a:srgbClr val="456B96"/>
          </a:solidFill>
          <a:ln w="9525">
            <a:solidFill>
              <a:srgbClr val="456B96"/>
            </a:solidFill>
          </a:ln>
        </p:spPr>
      </p:sp>
      <p:sp>
        <p:nvSpPr>
          <p:cNvPr id="63" name="Text 63"/>
          <p:cNvSpPr txBox="1"/>
          <p:nvPr/>
        </p:nvSpPr>
        <p:spPr>
          <a:xfrm>
            <a:off x="1115568" y="158191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700" b="1" dirty="0">
                <a:solidFill>
                  <a:srgbClr val="143A34"/>
                </a:solidFill>
                <a:latin typeface="Tahoma"/>
                <a:ea typeface="Tahoma"/>
                <a:cs typeface="Tahoma"/>
              </a:rPr>
              <a:t xml:space="preserve">3 · الاعتماد أو التعديل</a:t>
            </a:r>
            <a:endParaRPr lang="ar-SA" sz="1700"/>
          </a:p>
        </p:txBody>
      </p:sp>
      <p:sp>
        <p:nvSpPr>
          <p:cNvPr id="64" name="Text 64"/>
          <p:cNvSpPr txBox="1"/>
          <p:nvPr/>
        </p:nvSpPr>
        <p:spPr>
          <a:xfrm>
            <a:off x="1115568" y="202996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3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المسؤول يعتمد أو يعيد الطلب؛ الموظف يختار بديلًا.</a:t>
            </a:r>
            <a:endParaRPr lang="ar-SA" sz="1300"/>
          </a:p>
        </p:txBody>
      </p:sp>
      <p:sp>
        <p:nvSpPr>
          <p:cNvPr id="65" name="Text 65"/>
          <p:cNvSpPr txBox="1"/>
          <p:nvPr/>
        </p:nvSpPr>
        <p:spPr>
          <a:xfrm>
            <a:off x="7726680" y="29718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600" b="1" dirty="0">
                <a:solidFill>
                  <a:srgbClr val="143A34"/>
                </a:solidFill>
                <a:latin typeface="Tahoma"/>
                <a:ea typeface="Tahoma"/>
                <a:cs typeface="Tahoma"/>
              </a:rPr>
              <a:t xml:space="preserve">القاعات المشمولة</a:t>
            </a:r>
            <a:endParaRPr lang="ar-SA" sz="1600"/>
          </a:p>
        </p:txBody>
      </p:sp>
      <p:sp>
        <p:nvSpPr>
          <p:cNvPr id="66" name="Text 66"/>
          <p:cNvSpPr txBox="1"/>
          <p:nvPr/>
        </p:nvSpPr>
        <p:spPr>
          <a:xfrm>
            <a:off x="6035040" y="3364992"/>
            <a:ext cx="51663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35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قاعة مجلس الجامعة — أكثر من 30 شخصًا؛ الحد الأعلى غير محدد</a:t>
            </a:r>
            <a:endParaRPr lang="ar-SA" sz="1350"/>
          </a:p>
          <a:p>
            <a:pPr algn="r" rtl="1"/>
            <a:r>
              <a:rPr lang="ar-SA" sz="135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مسرحان جامعيان — السعة غير مدخلة</a:t>
            </a:r>
            <a:endParaRPr lang="ar-SA" sz="1350"/>
          </a:p>
          <a:p>
            <a:pPr algn="r" rtl="1"/>
            <a:r>
              <a:rPr lang="ar-SA" sz="135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3 قاعات دائرية — السعة غير مدخلة</a:t>
            </a:r>
            <a:endParaRPr lang="ar-SA" sz="1350"/>
          </a:p>
        </p:txBody>
      </p:sp>
      <p:sp>
        <p:nvSpPr>
          <p:cNvPr id="67" name="Shape 67"/>
          <p:cNvSpPr/>
          <p:nvPr/>
        </p:nvSpPr>
        <p:spPr>
          <a:xfrm>
            <a:off x="914400" y="3090672"/>
            <a:ext cx="4480560" cy="1143000"/>
          </a:xfrm>
          <a:prstGeom prst="roundRect">
            <a:avLst/>
          </a:prstGeom>
          <a:solidFill>
            <a:srgbClr val="FFF8E8"/>
          </a:solidFill>
          <a:ln w="9525">
            <a:solidFill>
              <a:srgbClr val="E8B34E"/>
            </a:solidFill>
          </a:ln>
        </p:spPr>
      </p:sp>
      <p:sp>
        <p:nvSpPr>
          <p:cNvPr id="68" name="Text 68"/>
          <p:cNvSpPr txBox="1"/>
          <p:nvPr/>
        </p:nvSpPr>
        <p:spPr>
          <a:xfrm>
            <a:off x="1143000" y="3310128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rtl="1"/>
            <a:r>
              <a:rPr lang="ar-SA" sz="1450" b="1" dirty="0">
                <a:solidFill>
                  <a:srgbClr val="A94F40"/>
                </a:solidFill>
                <a:latin typeface="Tahoma"/>
                <a:ea typeface="Tahoma"/>
                <a:cs typeface="Tahoma"/>
              </a:rPr>
              <a:t xml:space="preserve">قبل الاستخدام الفعلي: ربط التقويم بجدول معتمد وتأكيد السعات.</a:t>
            </a:r>
            <a:endParaRPr lang="ar-SA" sz="14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B55"/>
          </a:solidFill>
          <a:ln w="9525">
            <a:solidFill>
              <a:srgbClr val="176B55"/>
            </a:solidFill>
          </a:ln>
        </p:spPr>
      </p:sp>
      <p:sp>
        <p:nvSpPr>
          <p:cNvPr id="70" name="Shape 70"/>
          <p:cNvSpPr/>
          <p:nvPr/>
        </p:nvSpPr>
        <p:spPr>
          <a:xfrm>
            <a:off x="0" y="0"/>
            <a:ext cx="2011680" cy="82296"/>
          </a:xfrm>
          <a:prstGeom prst="rect">
            <a:avLst/>
          </a:prstGeom>
          <a:solidFill>
            <a:srgbClr val="E8B34E"/>
          </a:solidFill>
          <a:ln w="9525">
            <a:solidFill>
              <a:srgbClr val="E8B34E"/>
            </a:solidFill>
          </a:ln>
        </p:spPr>
      </p:sp>
      <p:sp>
        <p:nvSpPr>
          <p:cNvPr id="71" name="Text 71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200" b="1" dirty="0">
                <a:solidFill>
                  <a:srgbClr val="176B55"/>
                </a:solidFill>
                <a:latin typeface="Tahoma"/>
                <a:ea typeface="Tahoma"/>
                <a:cs typeface="Tahoma"/>
              </a:rPr>
              <a:t xml:space="preserve">03 · مقارنة السيناريوهات</a:t>
            </a:r>
            <a:endParaRPr lang="ar-SA" sz="1200"/>
          </a:p>
        </p:txBody>
      </p:sp>
      <p:sp>
        <p:nvSpPr>
          <p:cNvPr id="72" name="Text 72"/>
          <p:cNvSpPr txBox="1"/>
          <p:nvPr/>
        </p:nvSpPr>
        <p:spPr>
          <a:xfrm>
            <a:off x="685800" y="713232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2700" b="1" dirty="0">
                <a:solidFill>
                  <a:srgbClr val="143A34"/>
                </a:solidFill>
                <a:latin typeface="Tahoma"/>
                <a:ea typeface="Tahoma"/>
                <a:cs typeface="Tahoma"/>
              </a:rPr>
              <a:t xml:space="preserve">ثلاث حالات بالمساعد ومن دونه</a:t>
            </a:r>
            <a:endParaRPr lang="ar-SA" sz="2700"/>
          </a:p>
        </p:txBody>
      </p:sp>
      <p:sp>
        <p:nvSpPr>
          <p:cNvPr id="73" name="Shape 73"/>
          <p:cNvSpPr/>
          <p:nvPr/>
        </p:nvSpPr>
        <p:spPr>
          <a:xfrm>
            <a:off x="685800" y="6336792"/>
            <a:ext cx="10789920" cy="13716"/>
          </a:xfrm>
          <a:prstGeom prst="rect">
            <a:avLst/>
          </a:prstGeom>
          <a:solidFill>
            <a:srgbClr val="D8E3DC"/>
          </a:solidFill>
          <a:ln w="9525">
            <a:solidFill>
              <a:srgbClr val="D8E3DC"/>
            </a:solidFill>
          </a:ln>
        </p:spPr>
      </p:sp>
      <p:sp>
        <p:nvSpPr>
          <p:cNvPr id="74" name="Text 74"/>
          <p:cNvSpPr txBox="1"/>
          <p:nvPr/>
        </p:nvSpPr>
        <p:spPr>
          <a:xfrm>
            <a:off x="685800" y="638251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9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نموذج توضيحي ببيانات وهمية — غير متصل بنظام الجامعة</a:t>
            </a:r>
            <a:endParaRPr lang="ar-SA" sz="900"/>
          </a:p>
        </p:txBody>
      </p:sp>
      <p:sp>
        <p:nvSpPr>
          <p:cNvPr id="75" name="Text 75"/>
          <p:cNvSpPr txBox="1"/>
          <p:nvPr/>
        </p:nvSpPr>
        <p:spPr>
          <a:xfrm>
            <a:off x="10287000" y="638251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rtl="1"/>
            <a:r>
              <a:rPr lang="ar-SA" sz="9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4 / 5</a:t>
            </a:r>
            <a:endParaRPr lang="ar-SA" sz="900"/>
          </a:p>
        </p:txBody>
      </p:sp>
      <p:sp>
        <p:nvSpPr>
          <p:cNvPr id="76" name="Shape 76"/>
          <p:cNvSpPr/>
          <p:nvPr/>
        </p:nvSpPr>
        <p:spPr>
          <a:xfrm>
            <a:off x="7726680" y="1417320"/>
            <a:ext cx="3520440" cy="3977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3DC"/>
            </a:solidFill>
          </a:ln>
        </p:spPr>
      </p:sp>
      <p:sp>
        <p:nvSpPr>
          <p:cNvPr id="77" name="Shape 77"/>
          <p:cNvSpPr/>
          <p:nvPr/>
        </p:nvSpPr>
        <p:spPr>
          <a:xfrm>
            <a:off x="11173968" y="1527048"/>
            <a:ext cx="41148" cy="3758184"/>
          </a:xfrm>
          <a:prstGeom prst="rect">
            <a:avLst/>
          </a:prstGeom>
          <a:solidFill>
            <a:srgbClr val="176B55"/>
          </a:solidFill>
          <a:ln w="9525">
            <a:solidFill>
              <a:srgbClr val="176B55"/>
            </a:solidFill>
          </a:ln>
        </p:spPr>
      </p:sp>
      <p:sp>
        <p:nvSpPr>
          <p:cNvPr id="78" name="Text 78"/>
          <p:cNvSpPr txBox="1"/>
          <p:nvPr/>
        </p:nvSpPr>
        <p:spPr>
          <a:xfrm>
            <a:off x="7927848" y="1581912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700" b="1" dirty="0">
                <a:solidFill>
                  <a:srgbClr val="143A34"/>
                </a:solidFill>
                <a:latin typeface="Tahoma"/>
                <a:ea typeface="Tahoma"/>
                <a:cs typeface="Tahoma"/>
              </a:rPr>
              <a:t xml:space="preserve">نموذجية</a:t>
            </a:r>
            <a:endParaRPr lang="ar-SA" sz="1700"/>
          </a:p>
        </p:txBody>
      </p:sp>
      <p:sp>
        <p:nvSpPr>
          <p:cNvPr id="79" name="Text 79"/>
          <p:cNvSpPr txBox="1"/>
          <p:nvPr/>
        </p:nvSpPr>
        <p:spPr>
          <a:xfrm>
            <a:off x="7927848" y="2029968"/>
            <a:ext cx="310896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3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قاعة دائرية</a:t>
            </a:r>
            <a:endParaRPr lang="ar-SA" sz="1300"/>
          </a:p>
          <a:p>
            <a:pPr algn="r" rtl="1"/>
            <a:r>
              <a:rPr lang="ar-SA" sz="13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18 حاضرًا</a:t>
            </a:r>
            <a:endParaRPr lang="ar-SA" sz="1300"/>
          </a:p>
          <a:p>
            <a:pPr algn="r" rtl="1"/>
            <a:r>
              <a:rPr lang="ar-SA" sz="13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3 نوفمبر · 10–11 صباحًا</a:t>
            </a:r>
            <a:endParaRPr lang="ar-SA" sz="1300"/>
          </a:p>
          <a:p>
            <a:pPr algn="r" rtl="1"/>
            <a:r>
              <a:rPr lang="ar-SA" sz="13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/>
            </a:r>
            <a:endParaRPr lang="ar-SA" sz="1300"/>
          </a:p>
          <a:p>
            <a:pPr algn="r" rtl="1"/>
            <a:r>
              <a:rPr lang="ar-SA" sz="13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يدويًا: إدخال مكتمل.</a:t>
            </a:r>
            <a:endParaRPr lang="ar-SA" sz="1300"/>
          </a:p>
          <a:p>
            <a:pPr algn="r" rtl="1"/>
            <a:r>
              <a:rPr lang="ar-SA" sz="13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بالمساعد: تنظيم الحقول.</a:t>
            </a:r>
            <a:endParaRPr lang="ar-SA" sz="1300"/>
          </a:p>
          <a:p>
            <a:pPr algn="r" rtl="1"/>
            <a:r>
              <a:rPr lang="ar-SA" sz="13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/>
            </a:r>
            <a:endParaRPr lang="ar-SA" sz="1300"/>
          </a:p>
          <a:p>
            <a:pPr algn="r" rtl="1"/>
            <a:r>
              <a:rPr lang="ar-SA" sz="13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النتيجة: كلا المسارين مكتملان؛ القاعة الدائرية 1 متاحة في الجدول الوهمي.</a:t>
            </a:r>
            <a:endParaRPr lang="ar-SA" sz="1300"/>
          </a:p>
        </p:txBody>
      </p:sp>
      <p:sp>
        <p:nvSpPr>
          <p:cNvPr id="80" name="Shape 80"/>
          <p:cNvSpPr/>
          <p:nvPr/>
        </p:nvSpPr>
        <p:spPr>
          <a:xfrm>
            <a:off x="4325112" y="1417320"/>
            <a:ext cx="3063240" cy="3977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3DC"/>
            </a:solidFill>
          </a:ln>
        </p:spPr>
      </p:sp>
      <p:sp>
        <p:nvSpPr>
          <p:cNvPr id="81" name="Shape 81"/>
          <p:cNvSpPr/>
          <p:nvPr/>
        </p:nvSpPr>
        <p:spPr>
          <a:xfrm>
            <a:off x="7315200" y="1527048"/>
            <a:ext cx="41148" cy="3758184"/>
          </a:xfrm>
          <a:prstGeom prst="rect">
            <a:avLst/>
          </a:prstGeom>
          <a:solidFill>
            <a:srgbClr val="E8B34E"/>
          </a:solidFill>
          <a:ln w="9525">
            <a:solidFill>
              <a:srgbClr val="E8B34E"/>
            </a:solidFill>
          </a:ln>
        </p:spPr>
      </p:sp>
      <p:sp>
        <p:nvSpPr>
          <p:cNvPr id="82" name="Text 82"/>
          <p:cNvSpPr txBox="1"/>
          <p:nvPr/>
        </p:nvSpPr>
        <p:spPr>
          <a:xfrm>
            <a:off x="4526280" y="158191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700" b="1" dirty="0">
                <a:solidFill>
                  <a:srgbClr val="143A34"/>
                </a:solidFill>
                <a:latin typeface="Tahoma"/>
                <a:ea typeface="Tahoma"/>
                <a:cs typeface="Tahoma"/>
              </a:rPr>
              <a:t xml:space="preserve">ملتبسة</a:t>
            </a:r>
            <a:endParaRPr lang="ar-SA" sz="1700"/>
          </a:p>
        </p:txBody>
      </p:sp>
      <p:sp>
        <p:nvSpPr>
          <p:cNvPr id="83" name="Text 83"/>
          <p:cNvSpPr txBox="1"/>
          <p:nvPr/>
        </p:nvSpPr>
        <p:spPr>
          <a:xfrm>
            <a:off x="4526280" y="2029968"/>
            <a:ext cx="265176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25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الأسبوع القادم</a:t>
            </a:r>
            <a:endParaRPr lang="ar-SA" sz="1250"/>
          </a:p>
          <a:p>
            <a:pPr algn="r" rtl="1"/>
            <a:r>
              <a:rPr lang="ar-SA" sz="125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العدد 18 أو 25</a:t>
            </a:r>
            <a:endParaRPr lang="ar-SA" sz="1250"/>
          </a:p>
          <a:p>
            <a:pPr algn="r" rtl="1"/>
            <a:r>
              <a:rPr lang="ar-SA" sz="125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قاعة دائرية أو مسرح</a:t>
            </a:r>
            <a:endParaRPr lang="ar-SA" sz="1250"/>
          </a:p>
          <a:p>
            <a:pPr algn="r" rtl="1"/>
            <a:r>
              <a:rPr lang="ar-SA" sz="125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/>
            </a:r>
            <a:endParaRPr lang="ar-SA" sz="1250"/>
          </a:p>
          <a:p>
            <a:pPr algn="r" rtl="1"/>
            <a:r>
              <a:rPr lang="ar-SA" sz="125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كلا المسارين يتوقف للتوضيح؛ المساعد يجمع 3 أسئلة محددة.</a:t>
            </a:r>
            <a:endParaRPr lang="ar-SA" sz="1250"/>
          </a:p>
        </p:txBody>
      </p:sp>
      <p:sp>
        <p:nvSpPr>
          <p:cNvPr id="84" name="Shape 84"/>
          <p:cNvSpPr/>
          <p:nvPr/>
        </p:nvSpPr>
        <p:spPr>
          <a:xfrm>
            <a:off x="914400" y="1417320"/>
            <a:ext cx="3063240" cy="3977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3DC"/>
            </a:solidFill>
          </a:ln>
        </p:spPr>
      </p:sp>
      <p:sp>
        <p:nvSpPr>
          <p:cNvPr id="85" name="Shape 85"/>
          <p:cNvSpPr/>
          <p:nvPr/>
        </p:nvSpPr>
        <p:spPr>
          <a:xfrm>
            <a:off x="3904488" y="1527048"/>
            <a:ext cx="41148" cy="3758184"/>
          </a:xfrm>
          <a:prstGeom prst="rect">
            <a:avLst/>
          </a:prstGeom>
          <a:solidFill>
            <a:srgbClr val="A94F40"/>
          </a:solidFill>
          <a:ln w="9525">
            <a:solidFill>
              <a:srgbClr val="A94F40"/>
            </a:solidFill>
          </a:ln>
        </p:spPr>
      </p:sp>
      <p:sp>
        <p:nvSpPr>
          <p:cNvPr id="86" name="Text 86"/>
          <p:cNvSpPr txBox="1"/>
          <p:nvPr/>
        </p:nvSpPr>
        <p:spPr>
          <a:xfrm>
            <a:off x="1115568" y="158191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700" b="1" dirty="0">
                <a:solidFill>
                  <a:srgbClr val="143A34"/>
                </a:solidFill>
                <a:latin typeface="Tahoma"/>
                <a:ea typeface="Tahoma"/>
                <a:cs typeface="Tahoma"/>
              </a:rPr>
              <a:t xml:space="preserve">حدّية</a:t>
            </a:r>
            <a:endParaRPr lang="ar-SA" sz="1700"/>
          </a:p>
        </p:txBody>
      </p:sp>
      <p:sp>
        <p:nvSpPr>
          <p:cNvPr id="87" name="Text 87"/>
          <p:cNvSpPr txBox="1"/>
          <p:nvPr/>
        </p:nvSpPr>
        <p:spPr>
          <a:xfrm>
            <a:off x="1115568" y="2029968"/>
            <a:ext cx="265176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2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قاعة المجلس لـ35 شخصًا</a:t>
            </a:r>
            <a:endParaRPr lang="ar-SA" sz="1200"/>
          </a:p>
          <a:p>
            <a:pPr algn="r" rtl="1"/>
            <a:r>
              <a:rPr lang="ar-SA" sz="12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3 نوفمبر محجوز</a:t>
            </a:r>
            <a:endParaRPr lang="ar-SA" sz="1200"/>
          </a:p>
          <a:p>
            <a:pPr algn="r" rtl="1"/>
            <a:r>
              <a:rPr lang="ar-SA" sz="12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4 نوفمبر متاح في الجدول الوهمي</a:t>
            </a:r>
            <a:endParaRPr lang="ar-SA" sz="1200"/>
          </a:p>
          <a:p>
            <a:pPr algn="r" rtl="1"/>
            <a:r>
              <a:rPr lang="ar-SA" sz="12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/>
            </a:r>
            <a:endParaRPr lang="ar-SA" sz="1200"/>
          </a:p>
          <a:p>
            <a:pPr algn="r" rtl="1"/>
            <a:r>
              <a:rPr lang="ar-SA" sz="12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الموافقة مطلوبة، والحد الأعلى للسعة يحتاج تأكيدًا.</a:t>
            </a:r>
            <a:endParaRPr lang="ar-SA" sz="1200"/>
          </a:p>
        </p:txBody>
      </p:sp>
      <p:sp>
        <p:nvSpPr>
          <p:cNvPr id="88" name="Text 88"/>
          <p:cNvSpPr txBox="1"/>
          <p:nvPr/>
        </p:nvSpPr>
        <p:spPr>
          <a:xfrm>
            <a:off x="914400" y="557784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rtl="1"/>
            <a:r>
              <a:rPr lang="ar-SA" sz="1200" b="1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محاكاة مكتبية ببيانات افتراضية؛ لا تمثل اختبارًا مع موظفين ولا قياسًا للوقت.</a:t>
            </a:r>
            <a:endParaRPr lang="ar-SA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B55"/>
          </a:solidFill>
          <a:ln w="9525">
            <a:solidFill>
              <a:srgbClr val="176B55"/>
            </a:solidFill>
          </a:ln>
        </p:spPr>
      </p:sp>
      <p:sp>
        <p:nvSpPr>
          <p:cNvPr id="90" name="Shape 90"/>
          <p:cNvSpPr/>
          <p:nvPr/>
        </p:nvSpPr>
        <p:spPr>
          <a:xfrm>
            <a:off x="0" y="0"/>
            <a:ext cx="2011680" cy="82296"/>
          </a:xfrm>
          <a:prstGeom prst="rect">
            <a:avLst/>
          </a:prstGeom>
          <a:solidFill>
            <a:srgbClr val="E8B34E"/>
          </a:solidFill>
          <a:ln w="9525">
            <a:solidFill>
              <a:srgbClr val="E8B34E"/>
            </a:solidFill>
          </a:ln>
        </p:spPr>
      </p:sp>
      <p:sp>
        <p:nvSpPr>
          <p:cNvPr id="91" name="Text 91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200" b="1" dirty="0">
                <a:solidFill>
                  <a:srgbClr val="176B55"/>
                </a:solidFill>
                <a:latin typeface="Tahoma"/>
                <a:ea typeface="Tahoma"/>
                <a:cs typeface="Tahoma"/>
              </a:rPr>
              <a:t xml:space="preserve">04 · النتائج والخطوة التالية</a:t>
            </a:r>
            <a:endParaRPr lang="ar-SA" sz="1200"/>
          </a:p>
        </p:txBody>
      </p:sp>
      <p:sp>
        <p:nvSpPr>
          <p:cNvPr id="92" name="Text 92"/>
          <p:cNvSpPr txBox="1"/>
          <p:nvPr/>
        </p:nvSpPr>
        <p:spPr>
          <a:xfrm>
            <a:off x="685800" y="713232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2700" b="1" dirty="0">
                <a:solidFill>
                  <a:srgbClr val="143A34"/>
                </a:solidFill>
                <a:latin typeface="Tahoma"/>
                <a:ea typeface="Tahoma"/>
                <a:cs typeface="Tahoma"/>
              </a:rPr>
              <a:t xml:space="preserve">نتيجة أولية وحدود واضحة</a:t>
            </a:r>
            <a:endParaRPr lang="ar-SA" sz="2700"/>
          </a:p>
        </p:txBody>
      </p:sp>
      <p:sp>
        <p:nvSpPr>
          <p:cNvPr id="93" name="Shape 93"/>
          <p:cNvSpPr/>
          <p:nvPr/>
        </p:nvSpPr>
        <p:spPr>
          <a:xfrm>
            <a:off x="685800" y="6336792"/>
            <a:ext cx="10789920" cy="13716"/>
          </a:xfrm>
          <a:prstGeom prst="rect">
            <a:avLst/>
          </a:prstGeom>
          <a:solidFill>
            <a:srgbClr val="D8E3DC"/>
          </a:solidFill>
          <a:ln w="9525">
            <a:solidFill>
              <a:srgbClr val="D8E3DC"/>
            </a:solidFill>
          </a:ln>
        </p:spPr>
      </p:sp>
      <p:sp>
        <p:nvSpPr>
          <p:cNvPr id="94" name="Text 94"/>
          <p:cNvSpPr txBox="1"/>
          <p:nvPr/>
        </p:nvSpPr>
        <p:spPr>
          <a:xfrm>
            <a:off x="685800" y="638251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9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نموذج توضيحي ببيانات وهمية — غير متصل بنظام الجامعة</a:t>
            </a:r>
            <a:endParaRPr lang="ar-SA" sz="900"/>
          </a:p>
        </p:txBody>
      </p:sp>
      <p:sp>
        <p:nvSpPr>
          <p:cNvPr id="95" name="Text 95"/>
          <p:cNvSpPr txBox="1"/>
          <p:nvPr/>
        </p:nvSpPr>
        <p:spPr>
          <a:xfrm>
            <a:off x="10287000" y="638251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rtl="1"/>
            <a:r>
              <a:rPr lang="ar-SA" sz="9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5 / 5</a:t>
            </a:r>
            <a:endParaRPr lang="ar-SA" sz="900"/>
          </a:p>
        </p:txBody>
      </p:sp>
      <p:sp>
        <p:nvSpPr>
          <p:cNvPr id="96" name="Shape 96"/>
          <p:cNvSpPr/>
          <p:nvPr/>
        </p:nvSpPr>
        <p:spPr>
          <a:xfrm>
            <a:off x="7680960" y="1417320"/>
            <a:ext cx="3566160" cy="1097280"/>
          </a:xfrm>
          <a:prstGeom prst="roundRect">
            <a:avLst/>
          </a:prstGeom>
          <a:solidFill>
            <a:srgbClr val="E7F3EB"/>
          </a:solidFill>
          <a:ln w="9525">
            <a:solidFill>
              <a:srgbClr val="E7F3EB"/>
            </a:solidFill>
          </a:ln>
        </p:spPr>
      </p:sp>
      <p:sp>
        <p:nvSpPr>
          <p:cNvPr id="97" name="Text 97"/>
          <p:cNvSpPr txBox="1"/>
          <p:nvPr/>
        </p:nvSpPr>
        <p:spPr>
          <a:xfrm>
            <a:off x="7863840" y="1572768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rtl="1"/>
            <a:r>
              <a:rPr lang="ar-SA" sz="2400" b="1" dirty="0">
                <a:solidFill>
                  <a:srgbClr val="176B55"/>
                </a:solidFill>
                <a:latin typeface="Tahoma"/>
                <a:ea typeface="Tahoma"/>
                <a:cs typeface="Tahoma"/>
              </a:rPr>
              <a:t xml:space="preserve">7 من 7 قواعد</a:t>
            </a:r>
            <a:endParaRPr lang="ar-SA" sz="2400"/>
          </a:p>
        </p:txBody>
      </p:sp>
      <p:sp>
        <p:nvSpPr>
          <p:cNvPr id="98" name="Text 98"/>
          <p:cNvSpPr txBox="1"/>
          <p:nvPr/>
        </p:nvSpPr>
        <p:spPr>
          <a:xfrm>
            <a:off x="7863840" y="206654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rtl="1"/>
            <a:r>
              <a:rPr lang="ar-SA" sz="115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موجودة في الكود؛ فحص ثابت فقط.</a:t>
            </a:r>
            <a:endParaRPr lang="ar-SA" sz="1150"/>
          </a:p>
        </p:txBody>
      </p:sp>
      <p:sp>
        <p:nvSpPr>
          <p:cNvPr id="99" name="Text 99"/>
          <p:cNvSpPr txBox="1"/>
          <p:nvPr/>
        </p:nvSpPr>
        <p:spPr>
          <a:xfrm>
            <a:off x="7726680" y="28803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650" b="1" dirty="0">
                <a:solidFill>
                  <a:srgbClr val="143A34"/>
                </a:solidFill>
                <a:latin typeface="Tahoma"/>
                <a:ea typeface="Tahoma"/>
                <a:cs typeface="Tahoma"/>
              </a:rPr>
              <a:t xml:space="preserve">الخطوات التالية</a:t>
            </a:r>
            <a:endParaRPr lang="ar-SA" sz="1650"/>
          </a:p>
        </p:txBody>
      </p:sp>
      <p:sp>
        <p:nvSpPr>
          <p:cNvPr id="100" name="Text 100"/>
          <p:cNvSpPr txBox="1"/>
          <p:nvPr/>
        </p:nvSpPr>
        <p:spPr>
          <a:xfrm>
            <a:off x="5577840" y="3273552"/>
            <a:ext cx="56235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3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تأكيد سعات القاعات وقواعد الحجز</a:t>
            </a:r>
            <a:endParaRPr lang="ar-SA" sz="1300"/>
          </a:p>
          <a:p>
            <a:pPr algn="r" rtl="1"/>
            <a:r>
              <a:rPr lang="ar-SA" sz="13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ربط جدول معتمد ومحدّث</a:t>
            </a:r>
            <a:endParaRPr lang="ar-SA" sz="1300"/>
          </a:p>
          <a:p>
            <a:pPr algn="r" rtl="1"/>
            <a:r>
              <a:rPr lang="ar-SA" sz="13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تجربة مع موظفين ومسؤول اعتماد</a:t>
            </a:r>
            <a:endParaRPr lang="ar-SA" sz="1300"/>
          </a:p>
          <a:p>
            <a:pPr algn="r" rtl="1"/>
            <a:r>
              <a:rPr lang="ar-SA" sz="13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قياس الجهد وزمن الدورة والأخطاء</a:t>
            </a:r>
            <a:endParaRPr lang="ar-SA" sz="1300"/>
          </a:p>
        </p:txBody>
      </p:sp>
      <p:sp>
        <p:nvSpPr>
          <p:cNvPr id="101" name="Text 101"/>
          <p:cNvSpPr txBox="1"/>
          <p:nvPr/>
        </p:nvSpPr>
        <p:spPr>
          <a:xfrm>
            <a:off x="914400" y="1645920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700" b="1" dirty="0">
                <a:solidFill>
                  <a:srgbClr val="143A34"/>
                </a:solidFill>
                <a:latin typeface="Tahoma"/>
                <a:ea typeface="Tahoma"/>
                <a:cs typeface="Tahoma"/>
              </a:rPr>
              <a:t xml:space="preserve">حدود النموذج</a:t>
            </a:r>
            <a:endParaRPr lang="ar-SA" sz="1700"/>
          </a:p>
        </p:txBody>
      </p:sp>
      <p:sp>
        <p:nvSpPr>
          <p:cNvPr id="102" name="Text 102"/>
          <p:cNvSpPr txBox="1"/>
          <p:nvPr/>
        </p:nvSpPr>
        <p:spPr>
          <a:xfrm>
            <a:off x="914400" y="2103120"/>
            <a:ext cx="42519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rtl="1"/>
            <a:r>
              <a:rPr lang="ar-SA" sz="14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بيانات وهمية</a:t>
            </a:r>
            <a:endParaRPr lang="ar-SA" sz="1400"/>
          </a:p>
          <a:p>
            <a:pPr algn="r" rtl="1"/>
            <a:r>
              <a:rPr lang="ar-SA" sz="14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لا تسجيل دخول ولا قاعدة مشتركة</a:t>
            </a:r>
            <a:endParaRPr lang="ar-SA" sz="1400"/>
          </a:p>
          <a:p>
            <a:pPr algn="r" rtl="1"/>
            <a:r>
              <a:rPr lang="ar-SA" sz="14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الموافقة لا تُرفع فعليًا</a:t>
            </a:r>
            <a:endParaRPr lang="ar-SA" sz="1400"/>
          </a:p>
          <a:p>
            <a:pPr algn="r" rtl="1"/>
            <a:r>
              <a:rPr lang="ar-SA" sz="1400" dirty="0">
                <a:solidFill>
                  <a:srgbClr val="58716A"/>
                </a:solidFill>
                <a:latin typeface="Tahoma"/>
                <a:ea typeface="Tahoma"/>
                <a:cs typeface="Tahoma"/>
              </a:rPr>
              <a:t xml:space="preserve">لا إشعارات ولا اتصال بمسؤول القاعات</a:t>
            </a:r>
            <a:endParaRPr lang="ar-SA" sz="1400"/>
          </a:p>
        </p:txBody>
      </p:sp>
      <p:sp>
        <p:nvSpPr>
          <p:cNvPr id="103" name="Shape 103"/>
          <p:cNvSpPr/>
          <p:nvPr/>
        </p:nvSpPr>
        <p:spPr>
          <a:xfrm>
            <a:off x="914400" y="4800600"/>
            <a:ext cx="10332720" cy="868680"/>
          </a:xfrm>
          <a:prstGeom prst="roundRect">
            <a:avLst/>
          </a:prstGeom>
          <a:solidFill>
            <a:srgbClr val="FFF8E8"/>
          </a:solidFill>
          <a:ln w="9525">
            <a:solidFill>
              <a:srgbClr val="E8B34E"/>
            </a:solidFill>
          </a:ln>
        </p:spPr>
      </p:sp>
      <p:sp>
        <p:nvSpPr>
          <p:cNvPr id="104" name="Text 104"/>
          <p:cNvSpPr txBox="1"/>
          <p:nvPr/>
        </p:nvSpPr>
        <p:spPr>
          <a:xfrm>
            <a:off x="1143000" y="496519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rtl="1"/>
            <a:r>
              <a:rPr lang="ar-SA" sz="1450" b="1" dirty="0">
                <a:solidFill>
                  <a:srgbClr val="A94F40"/>
                </a:solidFill>
                <a:latin typeface="Tahoma"/>
                <a:ea typeface="Tahoma"/>
                <a:cs typeface="Tahoma"/>
              </a:rPr>
              <a:t xml:space="preserve">لا توجد نتائج ميدانية بعد التعديل؛ خط الأساس يحتاج التحقق من السجلات.</a:t>
            </a:r>
            <a:endParaRPr lang="ar-SA" sz="1450"/>
          </a:p>
        </p:txBody>
      </p:sp>
    </p:spTree>
  </p:cSld>
  <p:clrMapOvr>
    <a:masterClrMapping/>
  </p:clrMapOvr>
</p:sld>
</file>